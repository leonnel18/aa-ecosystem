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200">
                <a:solidFill>
                  <a:srgbClr val="FFFFFF"/>
                </a:solidFill>
                <a:latin typeface="Calibri"/>
              </a:rPr>
              <a:t>🌏  AktivAsia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000">
                <a:solidFill>
                  <a:srgbClr val="FFFFFF"/>
                </a:solidFill>
                <a:latin typeface="Calibri"/>
              </a:rPr>
              <a:t>AktivAsia Training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83280"/>
            <a:ext cx="1828800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5661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  <a:latin typeface="Calibri"/>
              </a:rPr>
              <a:t>Your Guide to Tracking Training Impact Across the 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2286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821545"/>
                </a:solidFill>
                <a:latin typeface="Calibri"/>
              </a:rPr>
              <a:t>Gideon Noel Valera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834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6B6B6B"/>
                </a:solidFill>
                <a:latin typeface="Calibri"/>
              </a:rPr>
              <a:t>Digital Projects Manager | Regional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6B6B6B"/>
                </a:solidFill>
                <a:latin typeface="Calibri"/>
              </a:rPr>
              <a:t>May 2026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114800"/>
            <a:ext cx="3200400" cy="3200400"/>
          </a:xfrm>
          <a:prstGeom prst="ellipse">
            <a:avLst/>
          </a:prstGeom>
          <a:solidFill>
            <a:srgbClr val="E8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Why This Portal Exists 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56032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8988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73936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A1A1A"/>
                </a:solidFill>
                <a:latin typeface="Calibri"/>
              </a:rPr>
              <a:t>Tracking applicants, graduates, and training impact was manual — spreadsheets, emails, and scattered data across the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256032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62432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Calibri"/>
              </a:rPr>
              <a:t>What It Replaces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08376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A1A1A"/>
                </a:solidFill>
                <a:latin typeface="Calibri"/>
              </a:rPr>
              <a:t>No more manual reports. The portal collects and displays all training data automatically, in real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256032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85876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  <a:latin typeface="Calibri"/>
              </a:rPr>
              <a:t>What It Enables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42816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1A1A1A"/>
                </a:solidFill>
                <a:latin typeface="Calibri"/>
              </a:rPr>
              <a:t>Country teams and leadership get clear, consistent reports — who applied, who graduated, and what impact was made — at any time, from anywhere.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5512" y="4114800"/>
            <a:ext cx="4389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4206240"/>
            <a:ext cx="4206240" cy="23774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25512" y="61996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6B6B6B"/>
                </a:solidFill>
                <a:latin typeface="Calibri"/>
              </a:rPr>
              <a:t>📸  Portal screenshot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The 5 Portals at a Glance 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6B6B6B"/>
                </a:solidFill>
                <a:latin typeface="Calibri"/>
              </a:rPr>
              <a:t>Each country has its own portal. The Backbone shows the full regional picture.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117750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117750" cy="109728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0263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0263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Backbone (Regional)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02631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6B6B6B"/>
                </a:solidFill>
                <a:latin typeface="Calibri"/>
              </a:rPr>
              <a:t>Combined view of all countries + regional trainings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2110" y="1691640"/>
            <a:ext cx="2117750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12110" y="1691640"/>
            <a:ext cx="2117750" cy="109728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3550" y="1920240"/>
            <a:ext cx="20263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🇵🇭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3550" y="2651760"/>
            <a:ext cx="20263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Philippines (PH)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3550" y="3291840"/>
            <a:ext cx="202631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6B6B6B"/>
                </a:solidFill>
                <a:latin typeface="Calibri"/>
              </a:rPr>
              <a:t>Philippines country portal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67020" y="1691640"/>
            <a:ext cx="2117750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67020" y="1691640"/>
            <a:ext cx="2117750" cy="109728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8460" y="1920240"/>
            <a:ext cx="20263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🇵🇰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8460" y="2651760"/>
            <a:ext cx="20263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Pakistan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8460" y="3291840"/>
            <a:ext cx="202631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6B6B6B"/>
                </a:solidFill>
                <a:latin typeface="Calibri"/>
              </a:rPr>
              <a:t>Pakistan country portal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1931" y="1691640"/>
            <a:ext cx="2117750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1931" y="1691640"/>
            <a:ext cx="2117750" cy="109728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3371" y="1920240"/>
            <a:ext cx="20263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🇰🇷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3371" y="2651760"/>
            <a:ext cx="20263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Korea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3371" y="3291840"/>
            <a:ext cx="202631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6B6B6B"/>
                </a:solidFill>
                <a:latin typeface="Calibri"/>
              </a:rPr>
              <a:t>Korea country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76841" y="1691640"/>
            <a:ext cx="2117750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76841" y="1691640"/>
            <a:ext cx="2117750" cy="109728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68281" y="1920240"/>
            <a:ext cx="20263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🇮🇩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8281" y="2651760"/>
            <a:ext cx="20263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Indonesia (ID)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8281" y="3291840"/>
            <a:ext cx="202631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6B6B6B"/>
                </a:solidFill>
                <a:latin typeface="Calibri"/>
              </a:rPr>
              <a:t>Indonesia country portal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The Applicant Journey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6B6B6B"/>
                </a:solidFill>
                <a:latin typeface="Calibri"/>
              </a:rPr>
              <a:t>Every applicant goes through the same journey — from application to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889150" cy="36576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89150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88915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200">
                <a:solidFill>
                  <a:srgbClr val="1A1A1A"/>
                </a:solidFill>
                <a:latin typeface="Calibri"/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8891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821545"/>
                </a:solidFill>
                <a:latin typeface="Calibri"/>
              </a:rPr>
              <a:t>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7062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Applicant fills in the online application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2070" y="2743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E86A1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2110" y="1828800"/>
            <a:ext cx="1889150" cy="36576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12110" y="1828800"/>
            <a:ext cx="1889150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2110" y="2103120"/>
            <a:ext cx="188915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20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2110" y="2926080"/>
            <a:ext cx="18891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821545"/>
                </a:solidFill>
                <a:latin typeface="Calibri"/>
              </a:rPr>
              <a:t>Selected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3550" y="3474720"/>
            <a:ext cx="17062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Country team reviews and selects participants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6980" y="2743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E86A1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67020" y="1828800"/>
            <a:ext cx="1889150" cy="36576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67020" y="1828800"/>
            <a:ext cx="1889150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7020" y="2103120"/>
            <a:ext cx="188915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200">
                <a:solidFill>
                  <a:srgbClr val="1A1A1A"/>
                </a:solidFill>
                <a:latin typeface="Calibri"/>
              </a:rP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7020" y="2926080"/>
            <a:ext cx="18891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821545"/>
                </a:solidFill>
                <a:latin typeface="Calibri"/>
              </a:rPr>
              <a:t>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3474720"/>
            <a:ext cx="17062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Training takes place — attendance is recorded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1891" y="2743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E86A1A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1931" y="1828800"/>
            <a:ext cx="1889150" cy="36576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1931" y="1828800"/>
            <a:ext cx="1889150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1931" y="2103120"/>
            <a:ext cx="188915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200">
                <a:solidFill>
                  <a:srgbClr val="1A1A1A"/>
                </a:solidFill>
                <a:latin typeface="Calibri"/>
              </a:rP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1931" y="2926080"/>
            <a:ext cx="18891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821545"/>
                </a:solidFill>
                <a:latin typeface="Calibri"/>
              </a:rPr>
              <a:t>Graduate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3371" y="3474720"/>
            <a:ext cx="17062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Participant completes training + post-survey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6801" y="2743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000">
                <a:solidFill>
                  <a:srgbClr val="E86A1A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76841" y="1828800"/>
            <a:ext cx="1889150" cy="36576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76841" y="1828800"/>
            <a:ext cx="1889150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6841" y="2103120"/>
            <a:ext cx="188915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200">
                <a:solidFill>
                  <a:srgbClr val="1A1A1A"/>
                </a:solidFill>
                <a:latin typeface="Calibri"/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6841" y="2926080"/>
            <a:ext cx="18891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821545"/>
                </a:solidFill>
                <a:latin typeface="Calibri"/>
              </a:rPr>
              <a:t>6-Month 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8281" y="3474720"/>
            <a:ext cx="17062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Graduate shares their impact 6 months later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What You Can See — 4 Reports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6B6B6B"/>
                </a:solidFill>
                <a:latin typeface="Calibri"/>
              </a:rPr>
              <a:t>Every country portal has 4 report tabs. Each answers a different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81478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81478" cy="1371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400">
                <a:solidFill>
                  <a:srgbClr val="1A1A1A"/>
                </a:solidFill>
                <a:latin typeface="Calibr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821545"/>
                </a:solidFill>
                <a:latin typeface="Calibri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249859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1A1A1A"/>
                </a:solidFill>
                <a:latin typeface="Calibri"/>
              </a:rPr>
              <a:t>How many people applied, graduated, and are ongoing?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5838" y="1828800"/>
            <a:ext cx="2681478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5838" y="1828800"/>
            <a:ext cx="2681478" cy="1371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5838" y="210312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400">
                <a:solidFill>
                  <a:srgbClr val="1A1A1A"/>
                </a:solidFill>
                <a:latin typeface="Calibri"/>
              </a:rP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5838" y="29260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821545"/>
                </a:solidFill>
                <a:latin typeface="Calibri"/>
              </a:rPr>
              <a:t>Training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278" y="3520440"/>
            <a:ext cx="249859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1A1A1A"/>
                </a:solidFill>
                <a:latin typeface="Calibri"/>
              </a:rPr>
              <a:t>What trainings are planned, ongoing, and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6" y="1828800"/>
            <a:ext cx="2681478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4476" y="1828800"/>
            <a:ext cx="2681478" cy="1371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4476" y="210312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400">
                <a:solidFill>
                  <a:srgbClr val="1A1A1A"/>
                </a:solidFill>
                <a:latin typeface="Calibri"/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4476" y="29260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821545"/>
                </a:solidFill>
                <a:latin typeface="Calibri"/>
              </a:rP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916" y="3520440"/>
            <a:ext cx="249859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1A1A1A"/>
                </a:solidFill>
                <a:latin typeface="Calibri"/>
              </a:rPr>
              <a:t>How did participants rate their skills — before, after, and 6 months later?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3114" y="1828800"/>
            <a:ext cx="2681478" cy="41148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3114" y="1828800"/>
            <a:ext cx="2681478" cy="1371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3114" y="2103120"/>
            <a:ext cx="268147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400">
                <a:solidFill>
                  <a:srgbClr val="1A1A1A"/>
                </a:solidFill>
                <a:latin typeface="Calibri"/>
              </a:rP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3114" y="2926080"/>
            <a:ext cx="26814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821545"/>
                </a:solidFill>
                <a:latin typeface="Calibri"/>
              </a:rPr>
              <a:t>Demographics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4554" y="3520440"/>
            <a:ext cx="249859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1A1A1A"/>
                </a:solidFill>
                <a:latin typeface="Calibri"/>
              </a:rPr>
              <a:t>Who are our participants — by gender, age, and region?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Report 1: Overview 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E86A1A"/>
                </a:solidFill>
                <a:latin typeface="Calibri"/>
              </a:rPr>
              <a:t>Your training programme at a glance.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🔢 Total Applicants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Everyone who ever applied to a training in your country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🎓 Total Graduates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317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Participants who completed training AND the post-survey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⏳ Ongoing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175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Participants selected for a current or upcoming training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216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📉 Application Funnel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7033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See where people drop off: Applied → Attended → Graduated → 6-Month 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074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📆 Year-Over-Year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3891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Is your programme growing? Compare applicants and graduates by year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25512" y="4114800"/>
            <a:ext cx="4389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2_portal_ph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4206240"/>
            <a:ext cx="4206240" cy="2377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25512" y="61996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6B6B6B"/>
                </a:solidFill>
                <a:latin typeface="Calibri"/>
              </a:rPr>
              <a:t>📸  Portal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Report 2: Training Plan 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E86A1A"/>
                </a:solidFill>
                <a:latin typeface="Calibri"/>
              </a:rPr>
              <a:t>Everything about your training schedule — past and future.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📋 Trainings by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How many Foundational, TOT, Feminist Leadership, and Public Narrative trainings have been run vs. planned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🧑‍🤝‍🧑 Practice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317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Skills sessions held — with dates and attendance 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📌 Upcoming Trainings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175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What's planned next — name, type, and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216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✅ Completed Trainings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7033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Full history of past trainings with applicant and graduate counts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25512" y="4114800"/>
            <a:ext cx="4389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_portal_ph_training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4206240"/>
            <a:ext cx="4206240" cy="2377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25512" y="61996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6B6B6B"/>
                </a:solidFill>
                <a:latin typeface="Calibri"/>
              </a:rPr>
              <a:t>📸  Portal 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Report 3: Impact 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E86A1A"/>
                </a:solidFill>
                <a:latin typeface="Calibri"/>
              </a:rPr>
              <a:t>Did the training make a difference? Here's the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📊 Likert Skill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Average self-rated scores (1–5) on 4 skills: Strategy, Communication, Facilitating, and Building Connections — measured Before, After, and at 6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💬 Post-Survey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317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Written responses from participants: what went well, what they learned, their action plans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🔍 6-Month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175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How graduates applied their learning, what changed in their campaigns and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57432" cy="6400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💡  Look for rising scores from Pre → Post → 6 Months. That's your proof of lasting impact.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5512" y="4114800"/>
            <a:ext cx="4389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_portal_ph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4206240"/>
            <a:ext cx="4206240" cy="2377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25512" y="61996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6B6B6B"/>
                </a:solidFill>
                <a:latin typeface="Calibri"/>
              </a:rPr>
              <a:t>📸  Portal 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Report 4: Demographics 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E86A1A"/>
                </a:solidFill>
                <a:latin typeface="Calibri"/>
              </a:rPr>
              <a:t>Who is your training reaching?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⚥ By Gender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Male / Female / Other breakdown — are we reaching a balanced audience?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🎂 By Age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317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18–24 / 25–34 / 35–44 / 45+ — which age groups are we serving most?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474720" cy="329184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📍 By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17520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1A1A1A"/>
                </a:solidFill>
                <a:latin typeface="Calibri"/>
              </a:rPr>
              <a:t>City and province breakdown — are we reaching beyond the capital?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57432" cy="6400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💡  Use Demographics to guide outreach — if one group is underrepresented, target them in the next training cycle.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5512" y="4114800"/>
            <a:ext cx="4389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5_portal_ph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4206240"/>
            <a:ext cx="4206240" cy="2377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25512" y="61996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6B6B6B"/>
                </a:solidFill>
                <a:latin typeface="Calibri"/>
              </a:rPr>
              <a:t>📸  Portal screenshot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Managing a Training 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E86A1A"/>
                </a:solidFill>
                <a:latin typeface="Calibri"/>
              </a:rPr>
              <a:t>The Admin Panel has 3 steps. Always do them in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575304" cy="4572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75304" cy="8229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92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Step 1
✅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339242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After applications close:
Review applicants one by one
Mark each as Selected or Rejected
Click Save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6784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E86A1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737360"/>
            <a:ext cx="3575304" cy="4572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5384" y="1737360"/>
            <a:ext cx="3575304" cy="8229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1783080"/>
            <a:ext cx="3392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Step 2
📍 Attend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2651760"/>
            <a:ext cx="339242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On or after training day:
Mark each selected participant as Attended or Not Attended
Click Save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E86A1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1737360"/>
            <a:ext cx="3575304" cy="457200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737360"/>
            <a:ext cx="3575304" cy="8229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1783080"/>
            <a:ext cx="33924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Step 3
🎓 Graduate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9242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After post-survey closes:
Mark participants who completed the survey as Graduated
Track 6-Month Eval progress 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25512" y="4114800"/>
            <a:ext cx="4389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7_adm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4206240"/>
            <a:ext cx="4206240" cy="2377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25512" y="61996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6B6B6B"/>
                </a:solidFill>
                <a:latin typeface="Calibri"/>
              </a:rPr>
              <a:t>📸  Portal screenshot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Creating a New Training 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E86A1A"/>
                </a:solidFill>
                <a:latin typeface="Calibri"/>
              </a:rPr>
              <a:t>Use the Create Training form to add a new training to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Go to: aktivasia.pages.dev/create-training.html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Fill in the Training Title (use the official name format)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Select the Training Type: Foundational / TOT / Feminist Leadership / Public Narrative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737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Select the Country (Organised By) and enter Start &amp; End 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14600"/>
            <a:ext cx="457200" cy="45720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Set Application Form dates (open &amp; close) and Post-Survey dates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457200" cy="45720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1A"/>
                </a:solidFill>
                <a:latin typeface="Calibri"/>
              </a:rPr>
              <a:t>Click 'Create Training' — done! ✅ The training appears in the portal within 24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25512" y="4114800"/>
            <a:ext cx="43891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11_create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4206240"/>
            <a:ext cx="4206240" cy="23774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25512" y="61996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00">
                <a:solidFill>
                  <a:srgbClr val="6B6B6B"/>
                </a:solidFill>
                <a:latin typeface="Calibri"/>
              </a:rPr>
              <a:t>📸  Portal screenshot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Automated Reminders 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E86A1A"/>
                </a:solidFill>
                <a:latin typeface="Calibri"/>
              </a:rPr>
              <a:t>The system sends these emails automatically. You don't need to do anything!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81478" cy="420624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81478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6814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Training Countdown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54431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When:
7 days before training starts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86A1A"/>
                </a:solidFill>
                <a:latin typeface="Calibri"/>
              </a:rPr>
              <a:t>To: Country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838" y="1828800"/>
            <a:ext cx="2681478" cy="420624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5838" y="1828800"/>
            <a:ext cx="2681478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5838" y="2057400"/>
            <a:ext cx="26814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278" y="274320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Selection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7278" y="3291840"/>
            <a:ext cx="254431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When:
After applications close — if applicants are still waiting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7278" y="448056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86A1A"/>
                </a:solidFill>
                <a:latin typeface="Calibri"/>
              </a:rPr>
              <a:t>To: Facilitator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1828800"/>
            <a:ext cx="2681478" cy="420624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828800"/>
            <a:ext cx="2681478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6" y="2057400"/>
            <a:ext cx="26814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916" y="274320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Attendance 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5916" y="3291840"/>
            <a:ext cx="254431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When:
Day before / day of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5916" y="448056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86A1A"/>
                </a:solidFill>
                <a:latin typeface="Calibri"/>
              </a:rPr>
              <a:t>To: Facilitator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3114" y="1828800"/>
            <a:ext cx="2681478" cy="420624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3114" y="1828800"/>
            <a:ext cx="2681478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3114" y="2057400"/>
            <a:ext cx="26814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1A1A1A"/>
                </a:solidFill>
                <a:latin typeface="Calibri"/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4554" y="274320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Post-Survey Reminder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4554" y="3291840"/>
            <a:ext cx="254431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1A1A1A"/>
                </a:solidFill>
                <a:latin typeface="Calibri"/>
              </a:rPr>
              <a:t>When:
After training ends, when survey window opens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4554" y="4480560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E86A1A"/>
                </a:solidFill>
                <a:latin typeface="Calibri"/>
              </a:rPr>
              <a:t>To: Participants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  <a:latin typeface="Calibri"/>
              </a:rPr>
              <a:t>Getting Started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E86A1A"/>
                </a:solidFill>
                <a:latin typeface="Calibri"/>
              </a:rPr>
              <a:t>Here's what to do right now: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575304" cy="347472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75304" cy="1371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575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600">
                <a:solidFill>
                  <a:srgbClr val="1A1A1A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392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821545"/>
                </a:solidFill>
                <a:latin typeface="Calibri"/>
              </a:rPr>
              <a:t>Open the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392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1A1A1A"/>
                </a:solidFill>
                <a:latin typeface="Calibri"/>
              </a:rPr>
              <a:t>Go to aktivasia.pages.dev — bookmark it in your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828800"/>
            <a:ext cx="3575304" cy="347472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5384" y="1828800"/>
            <a:ext cx="3575304" cy="1371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4" y="2103120"/>
            <a:ext cx="3575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600">
                <a:solidFill>
                  <a:srgbClr val="1A1A1A"/>
                </a:solidFill>
                <a:latin typeface="Calibri"/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2926080"/>
            <a:ext cx="3392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821545"/>
                </a:solidFill>
                <a:latin typeface="Calibri"/>
              </a:rPr>
              <a:t>Bookmark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3474720"/>
            <a:ext cx="3392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1A1A1A"/>
                </a:solidFill>
                <a:latin typeface="Calibri"/>
              </a:rPr>
              <a:t>Save the Admin Panel link for your country's trainings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1828800"/>
            <a:ext cx="3575304" cy="3474720"/>
          </a:xfrm>
          <a:prstGeom prst="rect">
            <a:avLst/>
          </a:prstGeom>
          <a:solidFill>
            <a:srgbClr val="F5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828800"/>
            <a:ext cx="3575304" cy="1371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03120"/>
            <a:ext cx="3575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600">
                <a:solidFill>
                  <a:srgbClr val="1A1A1A"/>
                </a:solidFill>
                <a:latin typeface="Calibri"/>
              </a:rPr>
              <a:t>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926080"/>
            <a:ext cx="3392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821545"/>
                </a:solidFill>
                <a:latin typeface="Calibri"/>
              </a:rPr>
              <a:t>Check Your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3474720"/>
            <a:ext cx="3392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1A1A1A"/>
                </a:solidFill>
                <a:latin typeface="Calibri"/>
              </a:rPr>
              <a:t>Make sure your email is registered — reminders will go there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821545"/>
                </a:solidFill>
                <a:latin typeface="Calibri"/>
              </a:rPr>
              <a:t>💬  Have a question or something looks wrong? Reach out to the Regional Team!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FFFFF"/>
                </a:solidFill>
                <a:latin typeface="Calibri"/>
              </a:rPr>
              <a:t>AktivAsia Portal  |  User Guide &amp; SOP  |  May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21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FFFFFF"/>
                </a:solidFill>
                <a:latin typeface="Calibri"/>
              </a:rPr>
              <a:t>Questions? We're Here to Help! 💬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75895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7589520" cy="1371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10312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821545"/>
                </a:solidFill>
                <a:latin typeface="Calibri"/>
              </a:rPr>
              <a:t>Gideon Noel Valera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7889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6B6B6B"/>
                </a:solidFill>
                <a:latin typeface="Calibri"/>
              </a:rPr>
              <a:t>Digital Projects Manager | Regional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33756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E86A1A"/>
                </a:solidFill>
                <a:latin typeface="Calibri"/>
              </a:rPr>
              <a:t>📧  gideon.valera@gmail.com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600">
                <a:solidFill>
                  <a:srgbClr val="FFFFFF"/>
                </a:solidFill>
                <a:latin typeface="Calibri"/>
              </a:rPr>
              <a:t>Thank you for being part of the AktivAsia community 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